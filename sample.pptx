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handoutMasterIdLst>
    <p:handoutMasterId r:id="rId25"/>
  </p:handoutMasterIdLst>
  <p:sldIdLst>
    <p:sldId id="264" r:id="rId3"/>
    <p:sldId id="415" r:id="rId4"/>
    <p:sldId id="257" r:id="rId5"/>
    <p:sldId id="272" r:id="rId7"/>
    <p:sldId id="284" r:id="rId8"/>
    <p:sldId id="418" r:id="rId9"/>
    <p:sldId id="271" r:id="rId10"/>
    <p:sldId id="273" r:id="rId11"/>
    <p:sldId id="258" r:id="rId12"/>
    <p:sldId id="274" r:id="rId13"/>
    <p:sldId id="417" r:id="rId14"/>
    <p:sldId id="276" r:id="rId15"/>
    <p:sldId id="285" r:id="rId16"/>
    <p:sldId id="275" r:id="rId17"/>
    <p:sldId id="277" r:id="rId18"/>
    <p:sldId id="278" r:id="rId19"/>
    <p:sldId id="279" r:id="rId20"/>
    <p:sldId id="280" r:id="rId21"/>
    <p:sldId id="281" r:id="rId22"/>
    <p:sldId id="419" r:id="rId23"/>
    <p:sldId id="420" r:id="rId24"/>
  </p:sldIdLst>
  <p:sldSz cx="9144000" cy="6858000" type="screen4x3"/>
  <p:notesSz cx="10234930" cy="7099300"/>
  <p:defaultTextStyle>
    <a:defPPr>
      <a:defRPr lang="tr-TR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66FF33"/>
    <a:srgbClr val="3333FF"/>
    <a:srgbClr val="990033"/>
    <a:srgbClr val="FF6600"/>
    <a:srgbClr val="FF0000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8"/>
    <p:restoredTop sz="94240"/>
  </p:normalViewPr>
  <p:slideViewPr>
    <p:cSldViewPr showGuides="1">
      <p:cViewPr>
        <p:scale>
          <a:sx n="75" d="100"/>
          <a:sy n="75" d="100"/>
        </p:scale>
        <p:origin x="-2028" y="-7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tr-T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tr-T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Ch. </a:t>
            </a:r>
            <a:r>
              <a:rPr kumimoji="0" lang="en-US" sz="13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Eick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COSC 6342: ML</a:t>
            </a:r>
            <a:endParaRPr kumimoji="0" lang="tr-T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p>
            <a:pPr lvl="0" algn="r" defTabSz="990600" eaLnBrk="1" hangingPunct="1">
              <a:buNone/>
            </a:pPr>
            <a:fld id="{9A0DB2DC-4C9A-4742-B13C-FB6460FD3503}" type="slidenum">
              <a:rPr lang="tr-TR" sz="1300" dirty="0">
                <a:latin typeface="Arial" panose="020B0604020202020204" pitchFamily="34" charset="0"/>
              </a:rPr>
            </a:fld>
            <a:endParaRPr lang="tr-TR" sz="13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tr-T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tr-T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628" name="Rectangle 4"/>
          <p:cNvSpPr>
            <a:spLocks noRot="1" noTextEdit="1"/>
          </p:cNvSpPr>
          <p:nvPr>
            <p:ph type="sldImg" idx="2"/>
          </p:nvPr>
        </p:nvSpPr>
        <p:spPr>
          <a:xfrm>
            <a:off x="3341688" y="531813"/>
            <a:ext cx="3549650" cy="266223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9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8" cy="31956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  <a:endParaRPr kumimoji="0" lang="tr-T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  <a:endParaRPr kumimoji="0" lang="tr-T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  <a:endParaRPr kumimoji="0" lang="tr-T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  <a:endParaRPr kumimoji="0" lang="tr-T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  <a:endParaRPr kumimoji="0" lang="tr-T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9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tr-T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9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p>
            <a:pPr lvl="0" algn="r" defTabSz="990600" eaLnBrk="1" hangingPunct="1">
              <a:buNone/>
            </a:pPr>
            <a:fld id="{9A0DB2DC-4C9A-4742-B13C-FB6460FD3503}" type="slidenum">
              <a:rPr lang="tr-TR" sz="1300" dirty="0">
                <a:latin typeface="Arial" panose="020B0604020202020204" pitchFamily="34" charset="0"/>
              </a:rPr>
            </a:fld>
            <a:endParaRPr lang="tr-TR" sz="13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p>
            <a:pPr lvl="0" algn="r" defTabSz="990600" eaLnBrk="1" hangingPunct="1"/>
            <a:fld id="{9A0DB2DC-4C9A-4742-B13C-FB6460FD3503}" type="slidenum">
              <a:rPr lang="tr-TR" sz="1300" dirty="0">
                <a:latin typeface="Arial" panose="020B0604020202020204" pitchFamily="34" charset="0"/>
              </a:rPr>
            </a:fld>
            <a:endParaRPr lang="tr-TR" sz="1300" dirty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1023938" y="3371850"/>
            <a:ext cx="8186737" cy="3195638"/>
          </a:xfrm>
          <a:ln/>
        </p:spPr>
        <p:txBody>
          <a:bodyPr wrap="square" lIns="99048" tIns="49524" rIns="99048" bIns="49524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p>
            <a:pPr lvl="0" algn="r" defTabSz="990600" eaLnBrk="1" hangingPunct="1"/>
            <a:fld id="{9A0DB2DC-4C9A-4742-B13C-FB6460FD3503}" type="slidenum">
              <a:rPr lang="tr-TR" sz="1300" dirty="0">
                <a:latin typeface="Arial" panose="020B0604020202020204" pitchFamily="34" charset="0"/>
              </a:rPr>
            </a:fld>
            <a:endParaRPr lang="tr-TR" sz="1300" dirty="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xfrm>
            <a:off x="1023938" y="3371850"/>
            <a:ext cx="8186737" cy="3195638"/>
          </a:xfrm>
          <a:ln/>
        </p:spPr>
        <p:txBody>
          <a:bodyPr wrap="square" lIns="99048" tIns="49524" rIns="99048" bIns="49524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7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8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3082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1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2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3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4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5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7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8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9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68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800">
                <a:solidFill>
                  <a:srgbClr val="FFFFFF"/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tr-TR"/>
              <a:t>Click to edit Master title style</a:t>
            </a:r>
            <a:endParaRPr lang="tr-TR"/>
          </a:p>
        </p:txBody>
      </p:sp>
      <p:sp>
        <p:nvSpPr>
          <p:cNvPr id="368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>
                <a:latin typeface="Palatino Linotype" panose="02040502050505030304" pitchFamily="18" charset="0"/>
              </a:defRPr>
            </a:lvl1pPr>
          </a:lstStyle>
          <a:p>
            <a:r>
              <a:rPr lang="tr-TR"/>
              <a:t>Click to edit Master subtitle style</a:t>
            </a:r>
            <a:endParaRPr lang="tr-TR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537368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" name="Rectangle 2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642100"/>
            <a:ext cx="6048375" cy="2159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Ch. </a:t>
            </a:r>
            <a:r>
              <a:rPr kumimoji="0" lang="en-US" sz="1000" b="0" i="1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Eick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COSC 6342 ML Topic`</a:t>
            </a:r>
            <a:endParaRPr kumimoji="0" lang="tr-TR" sz="10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23728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>
              <a:buNone/>
            </a:pPr>
            <a:fld id="{9A0DB2DC-4C9A-4742-B13C-FB6460FD3503}" type="slidenum">
              <a:rPr lang="tr-TR" dirty="0"/>
            </a:fld>
            <a:endParaRPr lang="tr-T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Footer Placeholder 3"/>
          <p:cNvSpPr>
            <a:spLocks noGrp="1"/>
          </p:cNvSpPr>
          <p:nvPr>
            <p:ph type="ftr" sz="quarter" idx="3"/>
          </p:nvPr>
        </p:nvSpPr>
        <p:spPr bwMode="auto">
          <a:xfrm>
            <a:off x="0" y="6642100"/>
            <a:ext cx="6048375" cy="2159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Alpydin &amp; Ch. Eick: ML Topic1</a:t>
            </a:r>
            <a:endParaRPr kumimoji="0" lang="tr-TR" sz="10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4"/>
          </p:nvPr>
        </p:nvSpPr>
        <p:spPr bwMode="auto">
          <a:xfrm>
            <a:off x="6588125" y="623728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>
              <a:buNone/>
            </a:pPr>
            <a:fld id="{9A0DB2DC-4C9A-4742-B13C-FB6460FD3503}" type="slidenum">
              <a:rPr lang="tr-TR" dirty="0"/>
            </a:fld>
            <a:endParaRPr lang="tr-T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88125" y="623728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>
              <a:buNone/>
            </a:pPr>
            <a:fld id="{9A0DB2DC-4C9A-4742-B13C-FB6460FD3503}" type="slidenum">
              <a:rPr lang="tr-TR" dirty="0"/>
            </a:fld>
            <a:endParaRPr lang="tr-T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Alpaydin &amp; Christoph F. Eick: COSC 6342; Topic1</a:t>
            </a:r>
            <a:endParaRPr kumimoji="0" lang="tr-TR" sz="10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642100"/>
            <a:ext cx="6048375" cy="215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000" i="1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Alpaydin &amp; Christoph F. Eick: COSC 6342; Topic1</a:t>
            </a:r>
            <a:endParaRPr kumimoji="0" lang="tr-TR" sz="10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23728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i="1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tr-TR" dirty="0">
                <a:latin typeface="Palatino Linotype" panose="02040502050505030304" pitchFamily="18" charset="0"/>
              </a:rPr>
            </a:fld>
            <a:endParaRPr lang="tr-TR" dirty="0">
              <a:latin typeface="Palatino Linotype" panose="02040502050505030304" pitchFamily="18" charset="0"/>
            </a:endParaRPr>
          </a:p>
        </p:txBody>
      </p:sp>
      <p:grpSp>
        <p:nvGrpSpPr>
          <p:cNvPr id="2052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584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84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84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4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4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5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5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85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5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053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2054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anose="020406020505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anose="020406020505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anose="020406020505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anose="020406020505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anose="020406020505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anose="020406020505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anose="020406020505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anose="020406020505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://www.cs.utoronto.ca/~delve/" TargetMode="External"/><Relationship Id="rId3" Type="http://schemas.openxmlformats.org/officeDocument/2006/relationships/hyperlink" Target="http://lib.stat.cmu.edu/" TargetMode="External"/><Relationship Id="rId2" Type="http://schemas.openxmlformats.org/officeDocument/2006/relationships/hyperlink" Target="http://kdd.ics.uci.edu/summary.data.application.html" TargetMode="External"/><Relationship Id="rId1" Type="http://schemas.openxmlformats.org/officeDocument/2006/relationships/hyperlink" Target="http://www.ics.uci.edu/~mlearn/MLRepository.htm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jmlr.org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4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sz="2000" i="0" dirty="0">
                <a:solidFill>
                  <a:srgbClr val="FFFFFF"/>
                </a:solidFill>
                <a:latin typeface="Palatino Linotype" panose="02040502050505030304" pitchFamily="18" charset="0"/>
                <a:ea typeface="+mj-ea"/>
                <a:cs typeface="+mj-cs"/>
              </a:rPr>
              <a:t>CHAPTER 1:</a:t>
            </a:r>
            <a:r>
              <a:rPr dirty="0">
                <a:solidFill>
                  <a:srgbClr val="FFFFFF"/>
                </a:solidFill>
                <a:latin typeface="Palatino Linotype" panose="02040502050505030304" pitchFamily="18" charset="0"/>
                <a:ea typeface="+mj-ea"/>
                <a:cs typeface="+mj-cs"/>
              </a:rPr>
              <a:t> </a:t>
            </a:r>
            <a:br>
              <a:rPr dirty="0">
                <a:solidFill>
                  <a:srgbClr val="FFFFFF"/>
                </a:solidFill>
                <a:latin typeface="Palatino Linotype" panose="02040502050505030304" pitchFamily="18" charset="0"/>
                <a:ea typeface="+mj-ea"/>
                <a:cs typeface="+mj-cs"/>
              </a:rPr>
            </a:br>
            <a:r>
              <a:rPr dirty="0">
                <a:solidFill>
                  <a:srgbClr val="FFFFFF"/>
                </a:solidFill>
                <a:latin typeface="Palatino Linotype" panose="02040502050505030304" pitchFamily="18" charset="0"/>
                <a:ea typeface="+mj-ea"/>
                <a:cs typeface="+mj-cs"/>
              </a:rPr>
              <a:t>Introduction</a:t>
            </a:r>
            <a:endParaRPr dirty="0">
              <a:solidFill>
                <a:srgbClr val="FFFFFF"/>
              </a:solidFill>
              <a:latin typeface="Palatino Linotype" panose="02040502050505030304" pitchFamily="18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Why “Learn”?</a:t>
            </a:r>
            <a:endParaRPr dirty="0"/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dirty="0"/>
              <a:t>Machine learning is programming computers to optimize a performance criterion using example data or past experience.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/>
              <a:t>There is no need to “learn” to calculate payroll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/>
              <a:t>Learning is used when:</a:t>
            </a:r>
            <a:endParaRPr dirty="0"/>
          </a:p>
          <a:p>
            <a:pPr lvl="1" eaLnBrk="1" hangingPunct="1">
              <a:lnSpc>
                <a:spcPct val="90000"/>
              </a:lnSpc>
            </a:pPr>
            <a:r>
              <a:rPr dirty="0"/>
              <a:t>Human expertise does not exist (navigating on Mars),</a:t>
            </a:r>
            <a:endParaRPr dirty="0"/>
          </a:p>
          <a:p>
            <a:pPr lvl="1" eaLnBrk="1" hangingPunct="1">
              <a:lnSpc>
                <a:spcPct val="90000"/>
              </a:lnSpc>
            </a:pPr>
            <a:r>
              <a:rPr dirty="0"/>
              <a:t>Humans are unable to explain their expertise (speech recognition)</a:t>
            </a:r>
            <a:endParaRPr dirty="0"/>
          </a:p>
          <a:p>
            <a:pPr lvl="1" eaLnBrk="1" hangingPunct="1">
              <a:lnSpc>
                <a:spcPct val="90000"/>
              </a:lnSpc>
            </a:pPr>
            <a:r>
              <a:rPr dirty="0"/>
              <a:t>Solution changes in time (routing on a computer network)</a:t>
            </a:r>
            <a:endParaRPr dirty="0"/>
          </a:p>
          <a:p>
            <a:pPr lvl="1" eaLnBrk="1" hangingPunct="1">
              <a:lnSpc>
                <a:spcPct val="90000"/>
              </a:lnSpc>
            </a:pPr>
            <a:r>
              <a:rPr dirty="0"/>
              <a:t>Solution needs to be adapted to particular cases (user biometrics)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8195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What We Talk About When We  Talk About“Learning”</a:t>
            </a:r>
            <a:endParaRPr dirty="0"/>
          </a:p>
        </p:txBody>
      </p:sp>
      <p:sp>
        <p:nvSpPr>
          <p:cNvPr id="8196" name="Rectangle 6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dirty="0"/>
              <a:t>Learning general models from a data of particular examples </a:t>
            </a:r>
            <a:endParaRPr dirty="0"/>
          </a:p>
          <a:p>
            <a:pPr eaLnBrk="1" hangingPunct="1"/>
            <a:r>
              <a:rPr dirty="0"/>
              <a:t>Data is cheap and abundant (data warehouses, data marts); knowledge is expensive and scarce. </a:t>
            </a:r>
            <a:endParaRPr dirty="0"/>
          </a:p>
          <a:p>
            <a:pPr eaLnBrk="1" hangingPunct="1"/>
            <a:r>
              <a:rPr dirty="0"/>
              <a:t>Example in retail: Customer transactions to consumer behavior: </a:t>
            </a:r>
            <a:endParaRPr dirty="0"/>
          </a:p>
          <a:p>
            <a:pPr lvl="1" eaLnBrk="1" hangingPunct="1">
              <a:buNone/>
            </a:pPr>
            <a:r>
              <a:rPr sz="2400" dirty="0"/>
              <a:t>	</a:t>
            </a:r>
            <a:r>
              <a:rPr i="1" dirty="0"/>
              <a:t>People who bought “Da Vinci Code” also bought “The Five People You Meet in Heaven”  (www.amazon.com)</a:t>
            </a:r>
            <a:endParaRPr i="1" dirty="0"/>
          </a:p>
          <a:p>
            <a:pPr eaLnBrk="1" hangingPunct="1"/>
            <a:r>
              <a:rPr dirty="0"/>
              <a:t>Build a model that is </a:t>
            </a:r>
            <a:r>
              <a:rPr i="1" dirty="0">
                <a:solidFill>
                  <a:schemeClr val="bg2"/>
                </a:solidFill>
              </a:rPr>
              <a:t>a good and useful approximation</a:t>
            </a:r>
            <a:r>
              <a:rPr dirty="0"/>
              <a:t> to the data.</a:t>
            </a:r>
            <a:r>
              <a:rPr i="1" dirty="0"/>
              <a:t> </a:t>
            </a:r>
            <a:r>
              <a:rPr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573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Data Mining</a:t>
            </a:r>
            <a:r>
              <a:rPr lang="en-US" altLang="x-none" dirty="0"/>
              <a:t>/KDD</a:t>
            </a:r>
            <a:endParaRPr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457200" y="2928938"/>
            <a:ext cx="8229600" cy="293846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dirty="0">
                <a:solidFill>
                  <a:schemeClr val="bg2"/>
                </a:solidFill>
              </a:rPr>
              <a:t>Retail:</a:t>
            </a:r>
            <a:r>
              <a:rPr dirty="0"/>
              <a:t> Market basket analysis, Customer relationship management (CRM)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>
                <a:solidFill>
                  <a:schemeClr val="bg2"/>
                </a:solidFill>
              </a:rPr>
              <a:t>Finance:</a:t>
            </a:r>
            <a:r>
              <a:rPr dirty="0"/>
              <a:t> Credit scoring, fraud detection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>
                <a:solidFill>
                  <a:schemeClr val="bg2"/>
                </a:solidFill>
              </a:rPr>
              <a:t>Manufacturing:</a:t>
            </a:r>
            <a:r>
              <a:rPr dirty="0"/>
              <a:t> Optimization, troubleshooting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>
                <a:solidFill>
                  <a:schemeClr val="bg2"/>
                </a:solidFill>
              </a:rPr>
              <a:t>Medicine:</a:t>
            </a:r>
            <a:r>
              <a:rPr dirty="0"/>
              <a:t> Medical diagnosis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>
                <a:solidFill>
                  <a:schemeClr val="bg2"/>
                </a:solidFill>
              </a:rPr>
              <a:t>Telecommunications:</a:t>
            </a:r>
            <a:r>
              <a:rPr dirty="0"/>
              <a:t> Quality of service optimization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>
                <a:solidFill>
                  <a:schemeClr val="bg2"/>
                </a:solidFill>
              </a:rPr>
              <a:t>Bioinformatics:</a:t>
            </a:r>
            <a:r>
              <a:rPr dirty="0"/>
              <a:t> Motifs, alignment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>
                <a:solidFill>
                  <a:schemeClr val="bg2"/>
                </a:solidFill>
              </a:rPr>
              <a:t>Web mining:</a:t>
            </a:r>
            <a:r>
              <a:rPr dirty="0"/>
              <a:t> Search engines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/>
              <a:t>...</a:t>
            </a:r>
            <a:endParaRPr dirty="0"/>
          </a:p>
        </p:txBody>
      </p:sp>
      <p:sp>
        <p:nvSpPr>
          <p:cNvPr id="9221" name="TextBox 5"/>
          <p:cNvSpPr txBox="1"/>
          <p:nvPr/>
        </p:nvSpPr>
        <p:spPr>
          <a:xfrm>
            <a:off x="500063" y="1143000"/>
            <a:ext cx="6962775" cy="1323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x-none" sz="2400" u="sng" dirty="0">
                <a:latin typeface="Palatino Linotype" panose="02040502050505030304" pitchFamily="18" charset="0"/>
              </a:rPr>
              <a:t>Definition</a:t>
            </a:r>
            <a:r>
              <a:rPr lang="en-US" altLang="x-none" sz="2400" dirty="0">
                <a:latin typeface="Palatino Linotype" panose="02040502050505030304" pitchFamily="18" charset="0"/>
              </a:rPr>
              <a:t> := </a:t>
            </a:r>
            <a:r>
              <a:rPr lang="en-US" altLang="x-none" sz="2400" i="1" dirty="0">
                <a:latin typeface="Palatino Linotype" panose="02040502050505030304" pitchFamily="18" charset="0"/>
              </a:rPr>
              <a:t>“KDD is the non-trivial process of </a:t>
            </a:r>
            <a:endParaRPr lang="en-US" altLang="x-none" sz="2400" i="1" dirty="0">
              <a:latin typeface="Palatino Linotype" panose="02040502050505030304" pitchFamily="18" charset="0"/>
            </a:endParaRPr>
          </a:p>
          <a:p>
            <a:r>
              <a:rPr lang="en-US" altLang="x-none" sz="2400" i="1" dirty="0">
                <a:latin typeface="Palatino Linotype" panose="02040502050505030304" pitchFamily="18" charset="0"/>
              </a:rPr>
              <a:t>identifying valid, novel, potentially useful, and </a:t>
            </a:r>
            <a:endParaRPr lang="en-US" altLang="x-none" sz="2400" i="1" dirty="0">
              <a:latin typeface="Palatino Linotype" panose="02040502050505030304" pitchFamily="18" charset="0"/>
            </a:endParaRPr>
          </a:p>
          <a:p>
            <a:r>
              <a:rPr lang="en-US" altLang="x-none" sz="2400" i="1" dirty="0">
                <a:latin typeface="Palatino Linotype" panose="02040502050505030304" pitchFamily="18" charset="0"/>
              </a:rPr>
              <a:t>ultimately understandable patterns in data” </a:t>
            </a:r>
            <a:r>
              <a:rPr lang="en-US" altLang="x-none" sz="2400" dirty="0">
                <a:latin typeface="Palatino Linotype" panose="02040502050505030304" pitchFamily="18" charset="0"/>
              </a:rPr>
              <a:t>(Fayyad</a:t>
            </a:r>
            <a:r>
              <a:rPr lang="en-US" altLang="x-none" dirty="0">
                <a:latin typeface="Palatino Linotype" panose="02040502050505030304" pitchFamily="18" charset="0"/>
              </a:rPr>
              <a:t>)</a:t>
            </a:r>
            <a:endParaRPr lang="en-US" altLang="x-none" dirty="0">
              <a:latin typeface="Palatino Linotype" panose="02040502050505030304" pitchFamily="18" charset="0"/>
            </a:endParaRPr>
          </a:p>
        </p:txBody>
      </p:sp>
      <p:sp>
        <p:nvSpPr>
          <p:cNvPr id="9222" name="TextBox 6"/>
          <p:cNvSpPr txBox="1"/>
          <p:nvPr/>
        </p:nvSpPr>
        <p:spPr>
          <a:xfrm>
            <a:off x="642938" y="2428875"/>
            <a:ext cx="2246312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x-none" sz="2600" dirty="0">
                <a:solidFill>
                  <a:srgbClr val="FF6600"/>
                </a:solidFill>
                <a:latin typeface="Palatino Linotype" panose="02040502050505030304" pitchFamily="18" charset="0"/>
              </a:rPr>
              <a:t>Applications: </a:t>
            </a:r>
            <a:endParaRPr lang="en-US" altLang="x-none" sz="2600" dirty="0">
              <a:solidFill>
                <a:srgbClr val="FF6600"/>
              </a:solidFill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What is Machine Learning?</a:t>
            </a:r>
            <a:endParaRPr dirty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85875"/>
            <a:ext cx="8229600" cy="45815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Machine Learning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Study of algorithms that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improve their performance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 some task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with experience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Optimize a performance criterion using example data or past experience.</a:t>
            </a:r>
            <a:endParaRPr kumimoji="0" lang="tr-T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Role of Statistics: Inference from a sample</a:t>
            </a:r>
            <a:endParaRPr kumimoji="0" lang="tr-T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Role of Computer science: Efficient algorithms to</a:t>
            </a:r>
            <a:endParaRPr kumimoji="0" lang="tr-T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Solve the optimization problem</a:t>
            </a:r>
            <a:endParaRPr kumimoji="0" lang="tr-T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Representing and evaluating the model for inference</a:t>
            </a:r>
            <a:endParaRPr kumimoji="0" lang="tr-T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58175" cy="75723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x-none" dirty="0">
                <a:solidFill>
                  <a:schemeClr val="tx1"/>
                </a:solidFill>
              </a:rPr>
              <a:t>Growth of Machine Learning</a:t>
            </a:r>
            <a:endParaRPr lang="en-US" altLang="x-none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57313"/>
            <a:ext cx="9144000" cy="4510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Machine learning is preferred approach to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Speech recognition, Natural language processing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Computer vision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Medical outcomes analysis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Robot control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biology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trend is accelerating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Improved machine learning algorithms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Improved data capture, networking, faster computers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Software too complex to write by hand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New sensors / IO devices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Demand for self-customization to user, environment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turns out to be difficult to extract knowledge from human </a:t>
            </a: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experts</a:t>
            </a: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sz="2000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failure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 of expert systems in the 1980’s.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3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Alpydin &amp; Ch. Eick: ML Topic1</a:t>
            </a:r>
            <a:endParaRPr kumimoji="0" lang="tr-TR" sz="10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9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Applications</a:t>
            </a:r>
            <a:endParaRPr dirty="0"/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dirty="0"/>
              <a:t>Association</a:t>
            </a:r>
            <a:r>
              <a:rPr lang="en-US" altLang="x-none" dirty="0"/>
              <a:t> Analysis</a:t>
            </a:r>
            <a:endParaRPr dirty="0"/>
          </a:p>
          <a:p>
            <a:pPr eaLnBrk="1" hangingPunct="1"/>
            <a:r>
              <a:rPr dirty="0"/>
              <a:t>Supervised Learning</a:t>
            </a:r>
            <a:endParaRPr dirty="0"/>
          </a:p>
          <a:p>
            <a:pPr lvl="1" eaLnBrk="1" hangingPunct="1"/>
            <a:r>
              <a:rPr dirty="0"/>
              <a:t>Classification</a:t>
            </a:r>
            <a:endParaRPr dirty="0"/>
          </a:p>
          <a:p>
            <a:pPr lvl="1" eaLnBrk="1" hangingPunct="1"/>
            <a:r>
              <a:rPr dirty="0"/>
              <a:t>Regression</a:t>
            </a:r>
            <a:r>
              <a:rPr lang="en-US" altLang="x-none" dirty="0"/>
              <a:t>/Prediction </a:t>
            </a:r>
            <a:endParaRPr dirty="0"/>
          </a:p>
          <a:p>
            <a:pPr eaLnBrk="1" hangingPunct="1"/>
            <a:r>
              <a:rPr dirty="0"/>
              <a:t>Unsupervised Learning</a:t>
            </a:r>
            <a:endParaRPr dirty="0"/>
          </a:p>
          <a:p>
            <a:pPr eaLnBrk="1" hangingPunct="1"/>
            <a:r>
              <a:rPr dirty="0"/>
              <a:t>Reinforcement Learning</a:t>
            </a:r>
            <a:endParaRPr lang="en-US" altLang="x-none" dirty="0"/>
          </a:p>
          <a:p>
            <a:pPr eaLnBrk="1" hangingPunct="1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1442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Learning Associations</a:t>
            </a:r>
            <a:endParaRPr dirty="0"/>
          </a:p>
        </p:txBody>
      </p:sp>
      <p:sp>
        <p:nvSpPr>
          <p:cNvPr id="1028" name="Rectangle 3"/>
          <p:cNvSpPr>
            <a:spLocks noGrp="1"/>
          </p:cNvSpPr>
          <p:nvPr>
            <p:ph idx="1"/>
          </p:nvPr>
        </p:nvSpPr>
        <p:spPr>
          <a:xfrm>
            <a:off x="457200" y="1571625"/>
            <a:ext cx="8229600" cy="4295775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dirty="0"/>
              <a:t>Basket analysis: </a:t>
            </a:r>
            <a:endParaRPr dirty="0"/>
          </a:p>
          <a:p>
            <a:pPr eaLnBrk="1" hangingPunct="1">
              <a:buNone/>
            </a:pPr>
            <a:r>
              <a:rPr dirty="0"/>
              <a:t>	</a:t>
            </a:r>
            <a:r>
              <a:rPr i="1" dirty="0"/>
              <a:t>P </a:t>
            </a:r>
            <a:r>
              <a:rPr dirty="0"/>
              <a:t>(</a:t>
            </a:r>
            <a:r>
              <a:rPr i="1" dirty="0"/>
              <a:t>Y </a:t>
            </a:r>
            <a:r>
              <a:rPr dirty="0"/>
              <a:t>| </a:t>
            </a:r>
            <a:r>
              <a:rPr i="1" dirty="0"/>
              <a:t>X </a:t>
            </a:r>
            <a:r>
              <a:rPr dirty="0"/>
              <a:t>) probability that somebody who buys </a:t>
            </a:r>
            <a:r>
              <a:rPr i="1" dirty="0"/>
              <a:t>X</a:t>
            </a:r>
            <a:r>
              <a:rPr dirty="0"/>
              <a:t> also buys </a:t>
            </a:r>
            <a:r>
              <a:rPr i="1" dirty="0"/>
              <a:t>Y </a:t>
            </a:r>
            <a:r>
              <a:rPr dirty="0"/>
              <a:t>where </a:t>
            </a:r>
            <a:r>
              <a:rPr i="1" dirty="0"/>
              <a:t>X</a:t>
            </a:r>
            <a:r>
              <a:rPr dirty="0"/>
              <a:t> and </a:t>
            </a:r>
            <a:r>
              <a:rPr i="1" dirty="0"/>
              <a:t>Y</a:t>
            </a:r>
            <a:r>
              <a:rPr dirty="0"/>
              <a:t> are products/services.</a:t>
            </a:r>
            <a:endParaRPr dirty="0"/>
          </a:p>
          <a:p>
            <a:pPr eaLnBrk="1" hangingPunct="1">
              <a:buNone/>
            </a:pPr>
            <a:r>
              <a:rPr dirty="0"/>
              <a:t>	</a:t>
            </a:r>
            <a:endParaRPr dirty="0"/>
          </a:p>
          <a:p>
            <a:pPr eaLnBrk="1" hangingPunct="1">
              <a:buNone/>
            </a:pPr>
            <a:r>
              <a:rPr dirty="0"/>
              <a:t>	Example: </a:t>
            </a:r>
            <a:r>
              <a:rPr i="1" dirty="0"/>
              <a:t>P </a:t>
            </a:r>
            <a:r>
              <a:rPr dirty="0"/>
              <a:t>( chips | beer ) = 0.7</a:t>
            </a:r>
            <a:endParaRPr dirty="0"/>
          </a:p>
        </p:txBody>
      </p:sp>
      <p:sp>
        <p:nvSpPr>
          <p:cNvPr id="1029" name="Text Box 4"/>
          <p:cNvSpPr txBox="1"/>
          <p:nvPr/>
        </p:nvSpPr>
        <p:spPr>
          <a:xfrm>
            <a:off x="357188" y="4000500"/>
            <a:ext cx="41910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x-none" sz="2000" dirty="0">
                <a:solidFill>
                  <a:srgbClr val="0C6D9C"/>
                </a:solidFill>
                <a:latin typeface="Palatino Linotype" panose="02040502050505030304" pitchFamily="18" charset="0"/>
              </a:rPr>
              <a:t>Market-Basket transactions</a:t>
            </a:r>
            <a:endParaRPr lang="en-US" altLang="x-none" sz="2000" dirty="0">
              <a:solidFill>
                <a:srgbClr val="0C6D9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026" name="Object 5"/>
          <p:cNvGraphicFramePr/>
          <p:nvPr/>
        </p:nvGraphicFramePr>
        <p:xfrm>
          <a:off x="280988" y="4325938"/>
          <a:ext cx="4343400" cy="253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429635" imgH="1996440" progId="Word.Document.8">
                  <p:embed/>
                </p:oleObj>
              </mc:Choice>
              <mc:Fallback>
                <p:oleObj name="" r:id="rId1" imgW="3429635" imgH="1996440" progId="Word.Document.8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0988" y="4325938"/>
                        <a:ext cx="4343400" cy="2532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pic>
        <p:nvPicPr>
          <p:cNvPr id="13315" name="Picture 9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995738" y="549275"/>
            <a:ext cx="4689475" cy="4464050"/>
          </a:xfrm>
          <a:ln/>
        </p:spPr>
      </p:pic>
      <p:sp>
        <p:nvSpPr>
          <p:cNvPr id="1331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Classification</a:t>
            </a:r>
            <a:endParaRPr dirty="0"/>
          </a:p>
        </p:txBody>
      </p:sp>
      <p:sp>
        <p:nvSpPr>
          <p:cNvPr id="1331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468313" y="1844675"/>
            <a:ext cx="3322637" cy="3168650"/>
          </a:xfrm>
          <a:ln/>
        </p:spPr>
        <p:txBody>
          <a:bodyPr vert="horz" wrap="square" lIns="91440" tIns="45720" rIns="91440" bIns="45720" anchor="t" anchorCtr="0"/>
          <a:lstStyle>
            <a:lvl1pPr lvl="0">
              <a:buClr>
                <a:schemeClr val="bg2"/>
              </a:buClr>
              <a:buSzPct val="75000"/>
              <a:buFont typeface="Wingdings" panose="05000000000000000000" pitchFamily="2" charset="2"/>
              <a:defRPr sz="2000"/>
            </a:lvl1pPr>
            <a:lvl2pPr lvl="1">
              <a:buClr>
                <a:schemeClr val="accent2"/>
              </a:buClr>
              <a:buSzPct val="80000"/>
              <a:buFont typeface="Wingdings" panose="05000000000000000000" pitchFamily="2" charset="2"/>
              <a:defRPr sz="1800"/>
            </a:lvl2pPr>
            <a:lvl3pPr lvl="2">
              <a:buClr>
                <a:schemeClr val="bg2"/>
              </a:buClr>
              <a:buSzPct val="65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70000"/>
              <a:buFont typeface="Wingdings" panose="05000000000000000000" pitchFamily="2" charset="2"/>
              <a:defRPr sz="1800"/>
            </a:lvl4pPr>
            <a:lvl5pPr lvl="4">
              <a:buClr>
                <a:schemeClr val="bg2"/>
              </a:buClr>
              <a:buSzTx/>
              <a:buFont typeface="Wingdings" panose="05000000000000000000" pitchFamily="2" charset="2"/>
              <a:defRPr sz="1800"/>
            </a:lvl5pPr>
          </a:lstStyle>
          <a:p>
            <a:pPr lvl="0" eaLnBrk="1" hangingPunct="1"/>
            <a:r>
              <a:rPr sz="2400" dirty="0"/>
              <a:t>Example: Credit scoring</a:t>
            </a:r>
            <a:endParaRPr sz="2400" dirty="0"/>
          </a:p>
          <a:p>
            <a:pPr lvl="0" eaLnBrk="1" hangingPunct="1"/>
            <a:r>
              <a:rPr sz="2400" dirty="0"/>
              <a:t>Differentiating between </a:t>
            </a:r>
            <a:r>
              <a:rPr sz="2400" dirty="0">
                <a:solidFill>
                  <a:srgbClr val="FF33CC"/>
                </a:solidFill>
              </a:rPr>
              <a:t>low-risk</a:t>
            </a:r>
            <a:r>
              <a:rPr sz="2400" dirty="0"/>
              <a:t> and </a:t>
            </a:r>
            <a:r>
              <a:rPr sz="2400" dirty="0">
                <a:solidFill>
                  <a:srgbClr val="FF0000"/>
                </a:solidFill>
              </a:rPr>
              <a:t>high-risk</a:t>
            </a:r>
            <a:r>
              <a:rPr sz="2400" dirty="0"/>
              <a:t> customers from their </a:t>
            </a:r>
            <a:r>
              <a:rPr sz="2400" i="1" dirty="0"/>
              <a:t>income</a:t>
            </a:r>
            <a:r>
              <a:rPr sz="2400" dirty="0"/>
              <a:t> and </a:t>
            </a:r>
            <a:r>
              <a:rPr sz="2400" i="1" dirty="0"/>
              <a:t>savings</a:t>
            </a:r>
            <a:endParaRPr sz="2400" i="1" dirty="0"/>
          </a:p>
        </p:txBody>
      </p:sp>
      <p:sp>
        <p:nvSpPr>
          <p:cNvPr id="13318" name="Rectangle 10"/>
          <p:cNvSpPr/>
          <p:nvPr/>
        </p:nvSpPr>
        <p:spPr>
          <a:xfrm>
            <a:off x="971550" y="5157788"/>
            <a:ext cx="7777163" cy="7921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 dirty="0">
                <a:solidFill>
                  <a:srgbClr val="3333FF"/>
                </a:solidFill>
                <a:latin typeface="Lucida Bright" panose="02040602050505020304" pitchFamily="18" charset="0"/>
              </a:rPr>
              <a:t>Discriminant:</a:t>
            </a:r>
            <a:r>
              <a:rPr sz="2400" dirty="0">
                <a:latin typeface="Lucida Bright" panose="02040602050505020304" pitchFamily="18" charset="0"/>
              </a:rPr>
              <a:t> IF </a:t>
            </a:r>
            <a:r>
              <a:rPr sz="2400" i="1" dirty="0">
                <a:latin typeface="Lucida Bright" panose="02040602050505020304" pitchFamily="18" charset="0"/>
              </a:rPr>
              <a:t>income</a:t>
            </a:r>
            <a:r>
              <a:rPr sz="2400" dirty="0">
                <a:latin typeface="Lucida Bright" panose="02040602050505020304" pitchFamily="18" charset="0"/>
              </a:rPr>
              <a:t> &gt; θ</a:t>
            </a:r>
            <a:r>
              <a:rPr sz="2400" baseline="-25000" dirty="0">
                <a:latin typeface="Lucida Bright" panose="02040602050505020304" pitchFamily="18" charset="0"/>
              </a:rPr>
              <a:t>1</a:t>
            </a:r>
            <a:r>
              <a:rPr sz="2400" dirty="0">
                <a:latin typeface="Lucida Bright" panose="02040602050505020304" pitchFamily="18" charset="0"/>
              </a:rPr>
              <a:t> AND </a:t>
            </a:r>
            <a:r>
              <a:rPr sz="2400" i="1" dirty="0">
                <a:latin typeface="Lucida Bright" panose="02040602050505020304" pitchFamily="18" charset="0"/>
              </a:rPr>
              <a:t>savings</a:t>
            </a:r>
            <a:r>
              <a:rPr sz="2400" dirty="0">
                <a:latin typeface="Lucida Bright" panose="02040602050505020304" pitchFamily="18" charset="0"/>
              </a:rPr>
              <a:t> &gt; θ</a:t>
            </a:r>
            <a:r>
              <a:rPr sz="2400" baseline="-25000" dirty="0">
                <a:latin typeface="Lucida Bright" panose="02040602050505020304" pitchFamily="18" charset="0"/>
              </a:rPr>
              <a:t>2</a:t>
            </a:r>
            <a:r>
              <a:rPr sz="2400" dirty="0">
                <a:latin typeface="Lucida Bright" panose="02040602050505020304" pitchFamily="18" charset="0"/>
              </a:rPr>
              <a:t> </a:t>
            </a:r>
            <a:endParaRPr sz="2400" dirty="0">
              <a:latin typeface="Lucida Bright" panose="020406020505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 dirty="0">
                <a:latin typeface="Lucida Bright" panose="02040602050505020304" pitchFamily="18" charset="0"/>
              </a:rPr>
              <a:t>				THEN </a:t>
            </a:r>
            <a:r>
              <a:rPr sz="2400" dirty="0">
                <a:solidFill>
                  <a:srgbClr val="FF33CC"/>
                </a:solidFill>
                <a:latin typeface="Lucida Bright" panose="02040602050505020304" pitchFamily="18" charset="0"/>
              </a:rPr>
              <a:t>low-risk </a:t>
            </a:r>
            <a:r>
              <a:rPr sz="2400" dirty="0">
                <a:latin typeface="Lucida Bright" panose="02040602050505020304" pitchFamily="18" charset="0"/>
              </a:rPr>
              <a:t>ELSE </a:t>
            </a:r>
            <a:r>
              <a:rPr sz="2400" dirty="0">
                <a:solidFill>
                  <a:srgbClr val="FF0000"/>
                </a:solidFill>
                <a:latin typeface="Lucida Bright" panose="02040602050505020304" pitchFamily="18" charset="0"/>
              </a:rPr>
              <a:t>high-risk</a:t>
            </a:r>
            <a:endParaRPr sz="2400" dirty="0">
              <a:solidFill>
                <a:srgbClr val="FF0000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0800000" flipV="1">
            <a:off x="1500188" y="5500688"/>
            <a:ext cx="928688" cy="7858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20" name="TextBox 10"/>
          <p:cNvSpPr txBox="1"/>
          <p:nvPr/>
        </p:nvSpPr>
        <p:spPr>
          <a:xfrm>
            <a:off x="1000125" y="6286500"/>
            <a:ext cx="922338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x-none" sz="2000" dirty="0">
                <a:latin typeface="Palatino Linotype" panose="02040502050505030304" pitchFamily="18" charset="0"/>
              </a:rPr>
              <a:t>Model</a:t>
            </a:r>
            <a:endParaRPr lang="en-US" altLang="x-none" sz="2000" dirty="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Classification: Applications</a:t>
            </a:r>
            <a:endParaRPr dirty="0"/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dirty="0"/>
              <a:t>Aka Pattern recognition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>
                <a:solidFill>
                  <a:schemeClr val="bg2"/>
                </a:solidFill>
              </a:rPr>
              <a:t>Face recognition:</a:t>
            </a:r>
            <a:r>
              <a:rPr dirty="0"/>
              <a:t> Pose, lighting, occlusion (glasses, beard), make-up, hair style 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>
                <a:solidFill>
                  <a:schemeClr val="bg2"/>
                </a:solidFill>
              </a:rPr>
              <a:t>Character recognition:</a:t>
            </a:r>
            <a:r>
              <a:rPr dirty="0"/>
              <a:t> Different handwriting styles.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>
                <a:solidFill>
                  <a:schemeClr val="bg2"/>
                </a:solidFill>
              </a:rPr>
              <a:t>Speech recognition:</a:t>
            </a:r>
            <a:r>
              <a:rPr dirty="0"/>
              <a:t> Temporal dependency. </a:t>
            </a:r>
            <a:endParaRPr dirty="0"/>
          </a:p>
          <a:p>
            <a:pPr lvl="1" eaLnBrk="1" hangingPunct="1">
              <a:lnSpc>
                <a:spcPct val="90000"/>
              </a:lnSpc>
            </a:pPr>
            <a:r>
              <a:rPr dirty="0"/>
              <a:t>Use of a dictionary or the syntax of the language. </a:t>
            </a:r>
            <a:endParaRPr dirty="0"/>
          </a:p>
          <a:p>
            <a:pPr lvl="1" eaLnBrk="1" hangingPunct="1">
              <a:lnSpc>
                <a:spcPct val="90000"/>
              </a:lnSpc>
            </a:pPr>
            <a:r>
              <a:rPr dirty="0"/>
              <a:t>Sensor fusion: Combine multiple modalities; eg, visual (lip image) and acoustic for speech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>
                <a:solidFill>
                  <a:schemeClr val="bg2"/>
                </a:solidFill>
              </a:rPr>
              <a:t>Medical diagnosis:</a:t>
            </a:r>
            <a:r>
              <a:rPr dirty="0"/>
              <a:t> From symptoms to illnesses</a:t>
            </a:r>
            <a:endParaRPr dirty="0"/>
          </a:p>
          <a:p>
            <a:pPr eaLnBrk="1" hangingPunct="1">
              <a:lnSpc>
                <a:spcPct val="90000"/>
              </a:lnSpc>
            </a:pPr>
            <a:r>
              <a:rPr lang="en-US" altLang="x-none" dirty="0">
                <a:solidFill>
                  <a:schemeClr val="bg2"/>
                </a:solidFill>
              </a:rPr>
              <a:t>Web Advertizing: </a:t>
            </a:r>
            <a:r>
              <a:rPr lang="en-US" altLang="x-none" dirty="0"/>
              <a:t>Predict if a user clicks on an ad on the Internet.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Face Recognition</a:t>
            </a:r>
            <a:endParaRPr dirty="0"/>
          </a:p>
        </p:txBody>
      </p:sp>
      <p:pic>
        <p:nvPicPr>
          <p:cNvPr id="15364" name="Picture 17" descr="0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2492375"/>
            <a:ext cx="876300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5" name="Picture 18" descr="0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713" y="2492375"/>
            <a:ext cx="876300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6" name="Picture 19" descr="0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775" y="2492375"/>
            <a:ext cx="876300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7" name="Picture 20" descr="0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838" y="2492375"/>
            <a:ext cx="876300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8" name="Picture 21" descr="0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213" y="4508500"/>
            <a:ext cx="876300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9" name="Picture 22" descr="0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275" y="4508500"/>
            <a:ext cx="876300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70" name="Picture 23" descr="10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338" y="4508500"/>
            <a:ext cx="876300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71" name="Picture 24" descr="3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8400" y="4508500"/>
            <a:ext cx="8763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72" name="Text Box 25"/>
          <p:cNvSpPr txBox="1"/>
          <p:nvPr/>
        </p:nvSpPr>
        <p:spPr>
          <a:xfrm>
            <a:off x="611188" y="1844675"/>
            <a:ext cx="46847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sz="2400" dirty="0">
                <a:latin typeface="Lucida Bright" panose="02040602050505020304" pitchFamily="18" charset="0"/>
              </a:rPr>
              <a:t>Training examples of a person</a:t>
            </a:r>
            <a:endParaRPr sz="2400" dirty="0">
              <a:latin typeface="Lucida Bright" panose="02040602050505020304" pitchFamily="18" charset="0"/>
            </a:endParaRPr>
          </a:p>
        </p:txBody>
      </p:sp>
      <p:sp>
        <p:nvSpPr>
          <p:cNvPr id="15373" name="Text Box 26"/>
          <p:cNvSpPr txBox="1"/>
          <p:nvPr/>
        </p:nvSpPr>
        <p:spPr>
          <a:xfrm>
            <a:off x="684213" y="3933825"/>
            <a:ext cx="19510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sz="2400" dirty="0">
                <a:latin typeface="Lucida Bright" panose="02040602050505020304" pitchFamily="18" charset="0"/>
              </a:rPr>
              <a:t>Test images</a:t>
            </a:r>
            <a:endParaRPr sz="2400" dirty="0">
              <a:latin typeface="Lucida Bright" panose="02040602050505020304" pitchFamily="18" charset="0"/>
            </a:endParaRPr>
          </a:p>
        </p:txBody>
      </p:sp>
      <p:sp>
        <p:nvSpPr>
          <p:cNvPr id="15374" name="Text Box 27"/>
          <p:cNvSpPr txBox="1"/>
          <p:nvPr/>
        </p:nvSpPr>
        <p:spPr>
          <a:xfrm>
            <a:off x="5435600" y="5949950"/>
            <a:ext cx="333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sz="1400" dirty="0">
                <a:latin typeface="Lucida Bright" panose="02040602050505020304" pitchFamily="18" charset="0"/>
              </a:rPr>
              <a:t>AT&amp;T Laboratories, Cambridge UK</a:t>
            </a:r>
            <a:endParaRPr sz="1400" dirty="0">
              <a:latin typeface="Lucida Bright" panose="02040602050505020304" pitchFamily="18" charset="0"/>
            </a:endParaRPr>
          </a:p>
          <a:p>
            <a:r>
              <a:rPr sz="1000" dirty="0">
                <a:latin typeface="Lucida Bright" panose="02040602050505020304" pitchFamily="18" charset="0"/>
              </a:rPr>
              <a:t>http://www.uk.research.att.com/facedatabase.html</a:t>
            </a:r>
            <a:endParaRPr sz="100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Slide Number Placeholder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pic>
        <p:nvPicPr>
          <p:cNvPr id="16387" name="Picture 6"/>
          <p:cNvPicPr>
            <a:picLocks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4140200" y="1492250"/>
            <a:ext cx="4546600" cy="4375150"/>
          </a:xfrm>
          <a:ln/>
        </p:spPr>
      </p:pic>
      <p:sp>
        <p:nvSpPr>
          <p:cNvPr id="16388" name="Rectangle 4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x-none" dirty="0"/>
              <a:t>Prediction: </a:t>
            </a:r>
            <a:r>
              <a:rPr dirty="0"/>
              <a:t>Regression</a:t>
            </a:r>
            <a:endParaRPr dirty="0"/>
          </a:p>
        </p:txBody>
      </p:sp>
      <p:sp>
        <p:nvSpPr>
          <p:cNvPr id="16389" name="Rectangle 5"/>
          <p:cNvSpPr>
            <a:spLocks noGrp="1"/>
          </p:cNvSpPr>
          <p:nvPr>
            <p:ph type="body" sz="half"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dirty="0"/>
              <a:t>Example: Price of a used car</a:t>
            </a:r>
            <a:endParaRPr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i="1" dirty="0"/>
              <a:t>x </a:t>
            </a:r>
            <a:r>
              <a:rPr dirty="0"/>
              <a:t>: car attributes</a:t>
            </a:r>
            <a:endParaRPr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dirty="0"/>
              <a:t>	</a:t>
            </a:r>
            <a:r>
              <a:rPr i="1" dirty="0"/>
              <a:t>y </a:t>
            </a:r>
            <a:r>
              <a:rPr dirty="0"/>
              <a:t>: price</a:t>
            </a:r>
            <a:endParaRPr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dirty="0"/>
              <a:t>		</a:t>
            </a:r>
            <a:r>
              <a:rPr i="1" dirty="0"/>
              <a:t>y </a:t>
            </a:r>
            <a:r>
              <a:rPr dirty="0"/>
              <a:t>= </a:t>
            </a:r>
            <a:r>
              <a:rPr i="1" dirty="0"/>
              <a:t>g </a:t>
            </a:r>
            <a:r>
              <a:rPr dirty="0"/>
              <a:t>(</a:t>
            </a:r>
            <a:r>
              <a:rPr i="1" dirty="0"/>
              <a:t>x </a:t>
            </a:r>
            <a:r>
              <a:rPr dirty="0"/>
              <a:t>| </a:t>
            </a:r>
            <a:r>
              <a:rPr i="1" dirty="0"/>
              <a:t>θ</a:t>
            </a:r>
            <a:r>
              <a:rPr dirty="0">
                <a:latin typeface="Symbol" panose="05050102010706020507" pitchFamily="18" charset="2"/>
              </a:rPr>
              <a:t> </a:t>
            </a:r>
            <a:r>
              <a:rPr dirty="0"/>
              <a:t>)</a:t>
            </a:r>
            <a:endParaRPr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dirty="0"/>
              <a:t>	</a:t>
            </a:r>
            <a:r>
              <a:rPr i="1" dirty="0"/>
              <a:t>g </a:t>
            </a:r>
            <a:r>
              <a:rPr dirty="0"/>
              <a:t>( ) model,</a:t>
            </a:r>
            <a:endParaRPr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dirty="0">
                <a:latin typeface="Symbol" panose="05050102010706020507" pitchFamily="18" charset="2"/>
              </a:rPr>
              <a:t>	</a:t>
            </a:r>
            <a:r>
              <a:rPr i="1" dirty="0"/>
              <a:t>θ</a:t>
            </a:r>
            <a:r>
              <a:rPr dirty="0"/>
              <a:t> parameters</a:t>
            </a:r>
            <a:endParaRPr dirty="0"/>
          </a:p>
        </p:txBody>
      </p:sp>
      <p:sp>
        <p:nvSpPr>
          <p:cNvPr id="16390" name="Text Box 9"/>
          <p:cNvSpPr txBox="1"/>
          <p:nvPr/>
        </p:nvSpPr>
        <p:spPr>
          <a:xfrm>
            <a:off x="6227763" y="2779713"/>
            <a:ext cx="168116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sz="2400" i="1" dirty="0">
                <a:latin typeface="Lucida Bright" panose="02040602050505020304" pitchFamily="18" charset="0"/>
              </a:rPr>
              <a:t>y </a:t>
            </a:r>
            <a:r>
              <a:rPr sz="2400" dirty="0">
                <a:latin typeface="Lucida Bright" panose="02040602050505020304" pitchFamily="18" charset="0"/>
              </a:rPr>
              <a:t>= </a:t>
            </a:r>
            <a:r>
              <a:rPr sz="2400" i="1" dirty="0">
                <a:latin typeface="Lucida Bright" panose="02040602050505020304" pitchFamily="18" charset="0"/>
              </a:rPr>
              <a:t>wx</a:t>
            </a:r>
            <a:r>
              <a:rPr sz="2400" dirty="0">
                <a:latin typeface="Lucida Bright" panose="02040602050505020304" pitchFamily="18" charset="0"/>
              </a:rPr>
              <a:t>+</a:t>
            </a:r>
            <a:r>
              <a:rPr sz="2400" i="1" dirty="0">
                <a:latin typeface="Lucida Bright" panose="02040602050505020304" pitchFamily="18" charset="0"/>
              </a:rPr>
              <a:t>w</a:t>
            </a:r>
            <a:r>
              <a:rPr sz="2400" baseline="-25000" dirty="0">
                <a:latin typeface="Lucida Bright" panose="02040602050505020304" pitchFamily="18" charset="0"/>
              </a:rPr>
              <a:t>0</a:t>
            </a:r>
            <a:endParaRPr lang="en-GB" altLang="x-none" sz="2400" baseline="-2500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6643688" y="6215063"/>
            <a:ext cx="2133600" cy="457200"/>
          </a:xfrm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Regression Applications</a:t>
            </a:r>
            <a:endParaRPr dirty="0"/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1808163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dirty="0"/>
              <a:t>Navigating a car: Angle of the steering wheel (CMU NavLab)</a:t>
            </a:r>
            <a:endParaRPr dirty="0"/>
          </a:p>
          <a:p>
            <a:pPr eaLnBrk="1" hangingPunct="1"/>
            <a:r>
              <a:rPr dirty="0"/>
              <a:t>Kinematics of a robot arm</a:t>
            </a:r>
            <a:endParaRPr dirty="0"/>
          </a:p>
        </p:txBody>
      </p:sp>
      <p:sp>
        <p:nvSpPr>
          <p:cNvPr id="17413" name="Rectangle 8"/>
          <p:cNvSpPr/>
          <p:nvPr/>
        </p:nvSpPr>
        <p:spPr>
          <a:xfrm>
            <a:off x="3563938" y="3284538"/>
            <a:ext cx="2232025" cy="1079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 i="1" dirty="0">
                <a:latin typeface="Lucida Bright" panose="02040602050505020304" pitchFamily="18" charset="0"/>
              </a:rPr>
              <a:t>α</a:t>
            </a:r>
            <a:r>
              <a:rPr sz="2000" baseline="-25000" dirty="0">
                <a:latin typeface="Lucida Bright" panose="02040602050505020304" pitchFamily="18" charset="0"/>
              </a:rPr>
              <a:t>1</a:t>
            </a:r>
            <a:r>
              <a:rPr sz="2400" dirty="0">
                <a:latin typeface="Lucida Bright" panose="02040602050505020304" pitchFamily="18" charset="0"/>
              </a:rPr>
              <a:t>= </a:t>
            </a:r>
            <a:r>
              <a:rPr sz="2400" i="1" dirty="0">
                <a:latin typeface="Lucida Bright" panose="02040602050505020304" pitchFamily="18" charset="0"/>
              </a:rPr>
              <a:t>g</a:t>
            </a:r>
            <a:r>
              <a:rPr sz="2000" baseline="-25000" dirty="0">
                <a:latin typeface="Lucida Bright" panose="02040602050505020304" pitchFamily="18" charset="0"/>
              </a:rPr>
              <a:t>1</a:t>
            </a:r>
            <a:r>
              <a:rPr sz="2400" dirty="0">
                <a:latin typeface="Lucida Bright" panose="02040602050505020304" pitchFamily="18" charset="0"/>
              </a:rPr>
              <a:t>(</a:t>
            </a:r>
            <a:r>
              <a:rPr sz="2400" i="1" dirty="0">
                <a:latin typeface="Lucida Bright" panose="02040602050505020304" pitchFamily="18" charset="0"/>
              </a:rPr>
              <a:t>x</a:t>
            </a:r>
            <a:r>
              <a:rPr sz="2400" dirty="0">
                <a:latin typeface="Lucida Bright" panose="02040602050505020304" pitchFamily="18" charset="0"/>
              </a:rPr>
              <a:t>,</a:t>
            </a:r>
            <a:r>
              <a:rPr sz="2400" i="1" dirty="0">
                <a:latin typeface="Lucida Bright" panose="02040602050505020304" pitchFamily="18" charset="0"/>
              </a:rPr>
              <a:t>y</a:t>
            </a:r>
            <a:r>
              <a:rPr sz="2400" dirty="0">
                <a:latin typeface="Lucida Bright" panose="02040602050505020304" pitchFamily="18" charset="0"/>
              </a:rPr>
              <a:t>)</a:t>
            </a:r>
            <a:endParaRPr sz="2400" dirty="0">
              <a:latin typeface="Lucida Bright" panose="02040602050505020304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 i="1" dirty="0">
                <a:latin typeface="Lucida Bright" panose="02040602050505020304" pitchFamily="18" charset="0"/>
              </a:rPr>
              <a:t>α</a:t>
            </a:r>
            <a:r>
              <a:rPr sz="2000" baseline="-25000" dirty="0">
                <a:latin typeface="Lucida Bright" panose="02040602050505020304" pitchFamily="18" charset="0"/>
              </a:rPr>
              <a:t>2</a:t>
            </a:r>
            <a:r>
              <a:rPr sz="2400" dirty="0">
                <a:latin typeface="Lucida Bright" panose="02040602050505020304" pitchFamily="18" charset="0"/>
              </a:rPr>
              <a:t>= </a:t>
            </a:r>
            <a:r>
              <a:rPr sz="2400" i="1" dirty="0">
                <a:latin typeface="Lucida Bright" panose="02040602050505020304" pitchFamily="18" charset="0"/>
              </a:rPr>
              <a:t>g</a:t>
            </a:r>
            <a:r>
              <a:rPr sz="2000" baseline="-25000" dirty="0">
                <a:latin typeface="Lucida Bright" panose="02040602050505020304" pitchFamily="18" charset="0"/>
              </a:rPr>
              <a:t>2</a:t>
            </a:r>
            <a:r>
              <a:rPr sz="2400" dirty="0">
                <a:latin typeface="Lucida Bright" panose="02040602050505020304" pitchFamily="18" charset="0"/>
              </a:rPr>
              <a:t>(</a:t>
            </a:r>
            <a:r>
              <a:rPr sz="2400" i="1" dirty="0">
                <a:latin typeface="Lucida Bright" panose="02040602050505020304" pitchFamily="18" charset="0"/>
              </a:rPr>
              <a:t>x</a:t>
            </a:r>
            <a:r>
              <a:rPr sz="2400" dirty="0">
                <a:latin typeface="Lucida Bright" panose="02040602050505020304" pitchFamily="18" charset="0"/>
              </a:rPr>
              <a:t>,</a:t>
            </a:r>
            <a:r>
              <a:rPr sz="2400" i="1" dirty="0">
                <a:latin typeface="Lucida Bright" panose="02040602050505020304" pitchFamily="18" charset="0"/>
              </a:rPr>
              <a:t>y</a:t>
            </a:r>
            <a:r>
              <a:rPr sz="2400" dirty="0">
                <a:latin typeface="Lucida Bright" panose="02040602050505020304" pitchFamily="18" charset="0"/>
              </a:rPr>
              <a:t>)</a:t>
            </a:r>
            <a:endParaRPr sz="2400" dirty="0">
              <a:latin typeface="Lucida Bright" panose="02040602050505020304" pitchFamily="18" charset="0"/>
            </a:endParaRPr>
          </a:p>
        </p:txBody>
      </p:sp>
      <p:grpSp>
        <p:nvGrpSpPr>
          <p:cNvPr id="17414" name="Group 19"/>
          <p:cNvGrpSpPr/>
          <p:nvPr/>
        </p:nvGrpSpPr>
        <p:grpSpPr>
          <a:xfrm>
            <a:off x="1403350" y="3284538"/>
            <a:ext cx="2374900" cy="2244725"/>
            <a:chOff x="930" y="2288"/>
            <a:chExt cx="1496" cy="1414"/>
          </a:xfrm>
        </p:grpSpPr>
        <p:sp>
          <p:nvSpPr>
            <p:cNvPr id="17415" name="Line 4"/>
            <p:cNvSpPr/>
            <p:nvPr/>
          </p:nvSpPr>
          <p:spPr>
            <a:xfrm>
              <a:off x="930" y="3702"/>
              <a:ext cx="77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16" name="Line 5"/>
            <p:cNvSpPr/>
            <p:nvPr/>
          </p:nvSpPr>
          <p:spPr>
            <a:xfrm flipV="1">
              <a:off x="1292" y="3158"/>
              <a:ext cx="681" cy="5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17" name="Line 6"/>
            <p:cNvSpPr/>
            <p:nvPr/>
          </p:nvSpPr>
          <p:spPr>
            <a:xfrm flipH="1" flipV="1">
              <a:off x="1701" y="2523"/>
              <a:ext cx="271" cy="63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17418" name="Line 7"/>
            <p:cNvSpPr/>
            <p:nvPr/>
          </p:nvSpPr>
          <p:spPr>
            <a:xfrm>
              <a:off x="1474" y="3158"/>
              <a:ext cx="95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7419" name="Rectangle 10"/>
            <p:cNvSpPr/>
            <p:nvPr/>
          </p:nvSpPr>
          <p:spPr>
            <a:xfrm>
              <a:off x="1655" y="3331"/>
              <a:ext cx="29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sz="2400" dirty="0">
                  <a:latin typeface="Lucida Bright" panose="02040602050505020304" pitchFamily="18" charset="0"/>
                </a:rPr>
                <a:t>α</a:t>
              </a:r>
              <a:r>
                <a:rPr sz="2400" baseline="-25000" dirty="0">
                  <a:latin typeface="Lucida Bright" panose="02040602050505020304" pitchFamily="18" charset="0"/>
                </a:rPr>
                <a:t>1</a:t>
              </a:r>
              <a:endParaRPr sz="2400" baseline="-25000" dirty="0">
                <a:latin typeface="Lucida Bright" panose="02040602050505020304" pitchFamily="18" charset="0"/>
              </a:endParaRPr>
            </a:p>
          </p:txBody>
        </p:sp>
        <p:sp>
          <p:nvSpPr>
            <p:cNvPr id="17420" name="Rectangle 11"/>
            <p:cNvSpPr/>
            <p:nvPr/>
          </p:nvSpPr>
          <p:spPr>
            <a:xfrm>
              <a:off x="1973" y="2750"/>
              <a:ext cx="29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sz="2400" dirty="0">
                  <a:latin typeface="Lucida Bright" panose="02040602050505020304" pitchFamily="18" charset="0"/>
                </a:rPr>
                <a:t>α</a:t>
              </a:r>
              <a:r>
                <a:rPr sz="2400" baseline="-25000" dirty="0">
                  <a:latin typeface="Lucida Bright" panose="02040602050505020304" pitchFamily="18" charset="0"/>
                </a:rPr>
                <a:t>2</a:t>
              </a:r>
              <a:endParaRPr sz="2400" baseline="-25000" dirty="0">
                <a:latin typeface="Lucida Bright" panose="02040602050505020304" pitchFamily="18" charset="0"/>
              </a:endParaRPr>
            </a:p>
          </p:txBody>
        </p:sp>
        <p:sp>
          <p:nvSpPr>
            <p:cNvPr id="17421" name="Arc 15"/>
            <p:cNvSpPr/>
            <p:nvPr/>
          </p:nvSpPr>
          <p:spPr>
            <a:xfrm>
              <a:off x="1927" y="3067"/>
              <a:ext cx="137" cy="91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17422" name="Arc 16"/>
            <p:cNvSpPr/>
            <p:nvPr/>
          </p:nvSpPr>
          <p:spPr>
            <a:xfrm>
              <a:off x="1474" y="3566"/>
              <a:ext cx="136" cy="136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17423" name="Rectangle 17"/>
            <p:cNvSpPr/>
            <p:nvPr/>
          </p:nvSpPr>
          <p:spPr>
            <a:xfrm>
              <a:off x="1111" y="2288"/>
              <a:ext cx="4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sz="2400" dirty="0">
                  <a:latin typeface="Lucida Bright" panose="02040602050505020304" pitchFamily="18" charset="0"/>
                </a:rPr>
                <a:t>(</a:t>
              </a:r>
              <a:r>
                <a:rPr sz="2400" i="1" dirty="0">
                  <a:latin typeface="Lucida Bright" panose="02040602050505020304" pitchFamily="18" charset="0"/>
                </a:rPr>
                <a:t>x</a:t>
              </a:r>
              <a:r>
                <a:rPr sz="2400" dirty="0">
                  <a:latin typeface="Lucida Bright" panose="02040602050505020304" pitchFamily="18" charset="0"/>
                </a:rPr>
                <a:t>,</a:t>
              </a:r>
              <a:r>
                <a:rPr sz="2400" i="1" dirty="0">
                  <a:latin typeface="Lucida Bright" panose="02040602050505020304" pitchFamily="18" charset="0"/>
                </a:rPr>
                <a:t>y</a:t>
              </a:r>
              <a:r>
                <a:rPr sz="2400" dirty="0">
                  <a:latin typeface="Lucida Bright" panose="02040602050505020304" pitchFamily="18" charset="0"/>
                </a:rPr>
                <a:t>)</a:t>
              </a:r>
              <a:endParaRPr sz="2400" dirty="0">
                <a:latin typeface="Lucida Bright" panose="02040602050505020304" pitchFamily="18" charset="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18435" name="Rectangle 2"/>
          <p:cNvSpPr>
            <a:spLocks noGrp="1"/>
          </p:cNvSpPr>
          <p:nvPr>
            <p:ph type="title"/>
          </p:nvPr>
        </p:nvSpPr>
        <p:spPr>
          <a:xfrm>
            <a:off x="468313" y="476250"/>
            <a:ext cx="8229600" cy="9525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Supervised Learning: Uses</a:t>
            </a:r>
            <a:endParaRPr dirty="0"/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dirty="0">
                <a:solidFill>
                  <a:schemeClr val="bg2"/>
                </a:solidFill>
              </a:rPr>
              <a:t>Prediction of future cases:</a:t>
            </a:r>
            <a:r>
              <a:rPr dirty="0"/>
              <a:t> Use the rule to predict the output for future inputs</a:t>
            </a:r>
            <a:endParaRPr dirty="0"/>
          </a:p>
          <a:p>
            <a:pPr eaLnBrk="1" hangingPunct="1"/>
            <a:r>
              <a:rPr dirty="0">
                <a:solidFill>
                  <a:schemeClr val="bg2"/>
                </a:solidFill>
              </a:rPr>
              <a:t>Knowledge extraction:</a:t>
            </a:r>
            <a:r>
              <a:rPr dirty="0"/>
              <a:t> The rule is easy to understand</a:t>
            </a:r>
            <a:endParaRPr dirty="0"/>
          </a:p>
          <a:p>
            <a:pPr eaLnBrk="1" hangingPunct="1"/>
            <a:r>
              <a:rPr dirty="0">
                <a:solidFill>
                  <a:schemeClr val="bg2"/>
                </a:solidFill>
              </a:rPr>
              <a:t>Compression:</a:t>
            </a:r>
            <a:r>
              <a:rPr dirty="0"/>
              <a:t> The rule is simpler than the data it explains</a:t>
            </a:r>
            <a:endParaRPr dirty="0"/>
          </a:p>
          <a:p>
            <a:pPr eaLnBrk="1" hangingPunct="1"/>
            <a:r>
              <a:rPr dirty="0">
                <a:solidFill>
                  <a:schemeClr val="bg2"/>
                </a:solidFill>
              </a:rPr>
              <a:t>Outlier detection:</a:t>
            </a:r>
            <a:r>
              <a:rPr dirty="0"/>
              <a:t> Exceptions that are not covered by the rule, e.g., fraud</a:t>
            </a:r>
            <a:endParaRPr dirty="0"/>
          </a:p>
        </p:txBody>
      </p:sp>
      <p:sp>
        <p:nvSpPr>
          <p:cNvPr id="18437" name="TextBox 4"/>
          <p:cNvSpPr txBox="1"/>
          <p:nvPr/>
        </p:nvSpPr>
        <p:spPr>
          <a:xfrm>
            <a:off x="357188" y="1357313"/>
            <a:ext cx="8501062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x-none" dirty="0">
                <a:latin typeface="Palatino Linotype" panose="02040502050505030304" pitchFamily="18" charset="0"/>
              </a:rPr>
              <a:t>Example: decision trees tools that create rules</a:t>
            </a:r>
            <a:endParaRPr lang="en-US" altLang="x-none" dirty="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Unsupervised Learning</a:t>
            </a:r>
            <a:endParaRPr dirty="0"/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dirty="0"/>
              <a:t>Learning “what normally happens”</a:t>
            </a:r>
            <a:endParaRPr dirty="0"/>
          </a:p>
          <a:p>
            <a:pPr eaLnBrk="1" hangingPunct="1"/>
            <a:r>
              <a:rPr dirty="0"/>
              <a:t>No output</a:t>
            </a:r>
            <a:endParaRPr dirty="0"/>
          </a:p>
          <a:p>
            <a:pPr eaLnBrk="1" hangingPunct="1"/>
            <a:r>
              <a:rPr dirty="0"/>
              <a:t>Clustering: Grouping similar instances</a:t>
            </a:r>
            <a:endParaRPr lang="en-US" altLang="x-none" dirty="0"/>
          </a:p>
          <a:p>
            <a:pPr eaLnBrk="1" hangingPunct="1"/>
            <a:r>
              <a:rPr lang="en-US" altLang="x-none" dirty="0"/>
              <a:t>Other applications: Summarization, Association Analysis</a:t>
            </a:r>
            <a:endParaRPr dirty="0"/>
          </a:p>
          <a:p>
            <a:pPr eaLnBrk="1" hangingPunct="1"/>
            <a:r>
              <a:rPr dirty="0"/>
              <a:t>Example applications</a:t>
            </a:r>
            <a:endParaRPr dirty="0"/>
          </a:p>
          <a:p>
            <a:pPr lvl="1" eaLnBrk="1" hangingPunct="1"/>
            <a:r>
              <a:rPr sz="2400" dirty="0"/>
              <a:t>Customer segmentation in CRM</a:t>
            </a:r>
            <a:endParaRPr sz="2400" dirty="0"/>
          </a:p>
          <a:p>
            <a:pPr lvl="1" eaLnBrk="1" hangingPunct="1"/>
            <a:r>
              <a:rPr sz="2400" dirty="0"/>
              <a:t>Image compression: Color quantization</a:t>
            </a:r>
            <a:endParaRPr sz="2400" dirty="0"/>
          </a:p>
          <a:p>
            <a:pPr lvl="1" eaLnBrk="1" hangingPunct="1"/>
            <a:r>
              <a:rPr sz="2400" dirty="0"/>
              <a:t>Bioinformatics: Learning motifs</a:t>
            </a:r>
            <a:endParaRPr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Reinforcement Learning</a:t>
            </a:r>
            <a:endParaRPr dirty="0"/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x-none" dirty="0"/>
              <a:t>Topics:</a:t>
            </a:r>
            <a:endParaRPr lang="en-US" altLang="x-none" dirty="0"/>
          </a:p>
          <a:p>
            <a:pPr lvl="1" eaLnBrk="1" hangingPunct="1"/>
            <a:r>
              <a:rPr lang="en-US" altLang="x-none" dirty="0"/>
              <a:t>Policies</a:t>
            </a:r>
            <a:r>
              <a:rPr dirty="0"/>
              <a:t>: </a:t>
            </a:r>
            <a:r>
              <a:rPr lang="en-US" altLang="x-none" dirty="0"/>
              <a:t>what actions should an agent take in a particular situation</a:t>
            </a:r>
            <a:endParaRPr lang="en-US" altLang="x-none" dirty="0"/>
          </a:p>
          <a:p>
            <a:pPr lvl="1" eaLnBrk="1" hangingPunct="1"/>
            <a:r>
              <a:rPr lang="en-US" altLang="x-none" dirty="0"/>
              <a:t>Utility estimation: how good is a state (</a:t>
            </a:r>
            <a:r>
              <a:rPr lang="en-US" altLang="x-none" dirty="0">
                <a:sym typeface="Wingdings" panose="05000000000000000000" pitchFamily="2" charset="2"/>
              </a:rPr>
              <a:t>used by policy)</a:t>
            </a:r>
            <a:endParaRPr dirty="0"/>
          </a:p>
          <a:p>
            <a:pPr eaLnBrk="1" hangingPunct="1"/>
            <a:r>
              <a:rPr dirty="0"/>
              <a:t>No supervised output but delayed reward</a:t>
            </a:r>
            <a:endParaRPr dirty="0"/>
          </a:p>
          <a:p>
            <a:pPr eaLnBrk="1" hangingPunct="1"/>
            <a:r>
              <a:rPr dirty="0"/>
              <a:t>Credit assignment problem</a:t>
            </a:r>
            <a:r>
              <a:rPr lang="en-US" altLang="x-none" dirty="0"/>
              <a:t> (what was responsible for the outcome) </a:t>
            </a:r>
            <a:endParaRPr lang="en-US" altLang="x-none" dirty="0"/>
          </a:p>
          <a:p>
            <a:pPr eaLnBrk="1" hangingPunct="1"/>
            <a:r>
              <a:rPr lang="en-US" altLang="x-none" dirty="0"/>
              <a:t>Applications: </a:t>
            </a:r>
            <a:endParaRPr dirty="0"/>
          </a:p>
          <a:p>
            <a:pPr lvl="1" eaLnBrk="1" hangingPunct="1"/>
            <a:r>
              <a:rPr dirty="0"/>
              <a:t>Game playing</a:t>
            </a:r>
            <a:endParaRPr dirty="0"/>
          </a:p>
          <a:p>
            <a:pPr lvl="1" eaLnBrk="1" hangingPunct="1"/>
            <a:r>
              <a:rPr dirty="0"/>
              <a:t>Robot in a maze</a:t>
            </a:r>
            <a:endParaRPr dirty="0"/>
          </a:p>
          <a:p>
            <a:pPr lvl="1" eaLnBrk="1" hangingPunct="1"/>
            <a:r>
              <a:rPr dirty="0"/>
              <a:t>Multiple agents, partial observability, ...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Resources: Datasets</a:t>
            </a:r>
            <a:endParaRPr dirty="0"/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dirty="0"/>
              <a:t>UCI Repository: </a:t>
            </a:r>
            <a:r>
              <a:rPr sz="2000" dirty="0">
                <a:solidFill>
                  <a:srgbClr val="3333FF"/>
                </a:solidFill>
                <a:hlinkClick r:id="rId1"/>
              </a:rPr>
              <a:t>http://www.ics.uci.edu/~mlearn/MLRepository.html</a:t>
            </a:r>
            <a:endParaRPr sz="2000" dirty="0">
              <a:solidFill>
                <a:srgbClr val="3333FF"/>
              </a:solidFill>
            </a:endParaRPr>
          </a:p>
          <a:p>
            <a:pPr eaLnBrk="1" hangingPunct="1"/>
            <a:r>
              <a:rPr dirty="0"/>
              <a:t>UCI KDD Archive: </a:t>
            </a:r>
            <a:r>
              <a:rPr sz="2000" dirty="0">
                <a:hlinkClick r:id="rId2"/>
              </a:rPr>
              <a:t>http://kdd.ics.uci.edu/summary.data.application.html</a:t>
            </a:r>
            <a:endParaRPr sz="2000" dirty="0"/>
          </a:p>
          <a:p>
            <a:pPr eaLnBrk="1" hangingPunct="1"/>
            <a:r>
              <a:rPr dirty="0"/>
              <a:t>Statlib: </a:t>
            </a:r>
            <a:r>
              <a:rPr sz="2000" dirty="0">
                <a:hlinkClick r:id="rId3"/>
              </a:rPr>
              <a:t>http://lib.stat.cmu.edu/</a:t>
            </a:r>
            <a:endParaRPr sz="2000" dirty="0"/>
          </a:p>
          <a:p>
            <a:pPr eaLnBrk="1" hangingPunct="1"/>
            <a:r>
              <a:rPr dirty="0"/>
              <a:t>Delve: </a:t>
            </a:r>
            <a:r>
              <a:rPr sz="2000" dirty="0">
                <a:hlinkClick r:id="rId4"/>
              </a:rPr>
              <a:t>http://www.cs.utoronto.ca/~delve/</a:t>
            </a:r>
            <a:endParaRPr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Resources: Journals</a:t>
            </a:r>
            <a:endParaRPr dirty="0"/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dirty="0"/>
              <a:t>Journal of Machine Learning Research </a:t>
            </a:r>
            <a:r>
              <a:rPr dirty="0">
                <a:hlinkClick r:id="rId1"/>
              </a:rPr>
              <a:t>www.jmlr.org</a:t>
            </a:r>
            <a:endParaRPr dirty="0"/>
          </a:p>
          <a:p>
            <a:pPr eaLnBrk="1" hangingPunct="1"/>
            <a:r>
              <a:rPr dirty="0"/>
              <a:t>Machine Learning </a:t>
            </a:r>
            <a:endParaRPr dirty="0"/>
          </a:p>
          <a:p>
            <a:pPr eaLnBrk="1" hangingPunct="1"/>
            <a:r>
              <a:rPr dirty="0"/>
              <a:t>IEEE Transactions on Neural Networks</a:t>
            </a:r>
            <a:endParaRPr dirty="0"/>
          </a:p>
          <a:p>
            <a:pPr eaLnBrk="1" hangingPunct="1"/>
            <a:r>
              <a:rPr dirty="0"/>
              <a:t>IEEE Transactions on Pattern Analysis and Machine Intelligence</a:t>
            </a:r>
            <a:endParaRPr dirty="0"/>
          </a:p>
          <a:p>
            <a:pPr eaLnBrk="1" hangingPunct="1"/>
            <a:r>
              <a:rPr dirty="0"/>
              <a:t>Annals of Statistics</a:t>
            </a:r>
            <a:endParaRPr dirty="0"/>
          </a:p>
          <a:p>
            <a:pPr eaLnBrk="1" hangingPunct="1"/>
            <a:r>
              <a:rPr dirty="0"/>
              <a:t>Journal of the American Statistical Association</a:t>
            </a:r>
            <a:endParaRPr dirty="0"/>
          </a:p>
          <a:p>
            <a:pPr eaLnBrk="1" hangingPunct="1"/>
            <a:r>
              <a:rPr dirty="0"/>
              <a:t>...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Resources: Conferences</a:t>
            </a:r>
            <a:endParaRPr dirty="0"/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142875" y="1643063"/>
            <a:ext cx="9001125" cy="42862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sz="2000" dirty="0"/>
              <a:t>International Conference on Machine Learning (ICML) 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European Conference on Machine Learning (ECML)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Neural Information Processing Systems (NIPS)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Computational Learning </a:t>
            </a:r>
            <a:endParaRPr lang="en-US" altLang="x-none" sz="2000" dirty="0"/>
          </a:p>
          <a:p>
            <a:pPr eaLnBrk="1" hangingPunct="1">
              <a:lnSpc>
                <a:spcPct val="80000"/>
              </a:lnSpc>
            </a:pPr>
            <a:r>
              <a:rPr sz="2000" dirty="0"/>
              <a:t>International Joint Conference on Artificial Intelligence (IJCAI)</a:t>
            </a:r>
            <a:endParaRPr sz="2000" dirty="0"/>
          </a:p>
          <a:p>
            <a:pPr eaLnBrk="1" hangingPunct="1">
              <a:lnSpc>
                <a:spcPct val="80000"/>
              </a:lnSpc>
            </a:pPr>
            <a:r>
              <a:rPr lang="en-US" altLang="x-none" sz="2000" dirty="0"/>
              <a:t>ACM SIGKDD Conference on Knowledge Discovery and Data Mining (KDD)</a:t>
            </a:r>
            <a:endParaRPr lang="en-US" altLang="x-none" sz="2000" dirty="0"/>
          </a:p>
          <a:p>
            <a:pPr eaLnBrk="1" hangingPunct="1">
              <a:lnSpc>
                <a:spcPct val="80000"/>
              </a:lnSpc>
            </a:pPr>
            <a:r>
              <a:rPr lang="en-US" altLang="x-none" sz="2000" dirty="0"/>
              <a:t>IEEE Int. Conf. on Data Mining (ICDM)</a:t>
            </a:r>
            <a:endParaRPr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357188" y="357188"/>
            <a:ext cx="8229600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br>
              <a:rPr lang="en-US" altLang="x-none" dirty="0"/>
            </a:br>
            <a:r>
              <a:rPr lang="en-US" altLang="x-none" dirty="0"/>
              <a:t>Summary COSC 6342 </a:t>
            </a:r>
            <a:br>
              <a:rPr lang="en-US" altLang="x-none" dirty="0"/>
            </a:br>
            <a:endParaRPr lang="en-US" altLang="x-none" dirty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457200" y="1071563"/>
            <a:ext cx="8229600" cy="4795837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x-none" sz="2000" dirty="0"/>
              <a:t>Introductory course that covers a wide range of machine learning techniques</a:t>
            </a:r>
            <a:r>
              <a:rPr lang="en-US" altLang="x-none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en-US" altLang="x-none" sz="2000" dirty="0"/>
              <a:t>from basic to state-of-the-art.</a:t>
            </a:r>
            <a:endParaRPr lang="en-US" altLang="x-none" sz="2000" dirty="0"/>
          </a:p>
          <a:p>
            <a:pPr eaLnBrk="1" hangingPunct="1"/>
            <a:r>
              <a:rPr lang="en-US" altLang="x-none" sz="2000" dirty="0"/>
              <a:t>More theoretical/statistics oriented, compared to other courses I teach</a:t>
            </a:r>
            <a:r>
              <a:rPr lang="en-US" altLang="x-none" sz="2000" dirty="0">
                <a:sym typeface="Wingdings" panose="05000000000000000000" pitchFamily="2" charset="2"/>
              </a:rPr>
              <a:t> might need continuous work not “to get lost”. </a:t>
            </a:r>
            <a:endParaRPr lang="en-US" altLang="x-none" sz="2000" dirty="0"/>
          </a:p>
          <a:p>
            <a:pPr eaLnBrk="1" hangingPunct="1"/>
            <a:r>
              <a:rPr lang="en-US" altLang="x-none" sz="2000" dirty="0"/>
              <a:t> You will learn about the methods you heard about: </a:t>
            </a:r>
            <a:r>
              <a:rPr lang="en-US" altLang="x-none" sz="1800" dirty="0"/>
              <a:t>Naïve Bayes’, belief networks, regression, nearest-neighbor (kNN), decision trees, support vector machines, learning ensembles, over-fitting, regularization, dimensionality reduction &amp; PCA, error bounds, parameter estimation, mixture models, comparing models, density estimation, clustering centering on K-means, EM, and DBSCAN, active and reinforcement learning.</a:t>
            </a:r>
            <a:endParaRPr lang="en-US" altLang="x-none" sz="1800" dirty="0"/>
          </a:p>
          <a:p>
            <a:pPr eaLnBrk="1" hangingPunct="1"/>
            <a:r>
              <a:rPr lang="en-US" altLang="x-none" sz="2000" dirty="0"/>
              <a:t>Covers algorithms, theory and applications</a:t>
            </a:r>
            <a:endParaRPr lang="en-US" altLang="x-none" sz="2000" dirty="0"/>
          </a:p>
          <a:p>
            <a:pPr eaLnBrk="1" hangingPunct="1"/>
            <a:r>
              <a:rPr lang="en-US" altLang="x-none" sz="2000" b="1" dirty="0"/>
              <a:t>It’s going to be fun and hard work </a:t>
            </a:r>
            <a:endParaRPr lang="en-US" altLang="x-none" sz="2000" b="1" dirty="0"/>
          </a:p>
          <a:p>
            <a:pPr eaLnBrk="1" hangingPunct="1"/>
            <a:endParaRPr lang="en-US" altLang="x-none" dirty="0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3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Alpydin &amp; Ch. Eick: ML Topic1</a:t>
            </a:r>
            <a:endParaRPr kumimoji="0" lang="tr-TR" sz="10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81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395288" y="-171450"/>
            <a:ext cx="8229600" cy="1046163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/>
            <a:br>
              <a:rPr lang="en-US" altLang="x-none" dirty="0"/>
            </a:br>
            <a:r>
              <a:rPr lang="en-US" altLang="x-none" sz="2400" b="1" i="0" dirty="0">
                <a:solidFill>
                  <a:srgbClr val="FF0000"/>
                </a:solidFill>
              </a:rPr>
              <a:t>Which Topics Deserve More Coverage</a:t>
            </a:r>
            <a:br>
              <a:rPr lang="en-US" altLang="x-none" sz="2400" b="1" i="0" dirty="0">
                <a:solidFill>
                  <a:srgbClr val="FF0000"/>
                </a:solidFill>
              </a:rPr>
            </a:br>
            <a:r>
              <a:rPr lang="en-US" altLang="x-none" sz="2400" b="1" i="0" dirty="0">
                <a:solidFill>
                  <a:srgbClr val="FF0000"/>
                </a:solidFill>
              </a:rPr>
              <a:t>—if we had more time?</a:t>
            </a:r>
            <a:endParaRPr lang="en-US" altLang="x-none" sz="2400" b="1" i="0" dirty="0">
              <a:solidFill>
                <a:srgbClr val="FF0000"/>
              </a:solidFill>
            </a:endParaRP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23850" y="1071563"/>
            <a:ext cx="8569325" cy="4795837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x-none" dirty="0"/>
              <a:t>Graphical Models/Belief Networks (just ran out of time)</a:t>
            </a:r>
            <a:endParaRPr lang="en-US" altLang="x-none" dirty="0"/>
          </a:p>
          <a:p>
            <a:pPr eaLnBrk="1" hangingPunct="1"/>
            <a:r>
              <a:rPr lang="en-US" altLang="x-none" dirty="0"/>
              <a:t>More on Adaptive Systems</a:t>
            </a:r>
            <a:endParaRPr lang="en-US" altLang="x-none" dirty="0"/>
          </a:p>
          <a:p>
            <a:pPr eaLnBrk="1" hangingPunct="1"/>
            <a:r>
              <a:rPr lang="en-US" altLang="x-none" dirty="0"/>
              <a:t>Learning Theory</a:t>
            </a:r>
            <a:endParaRPr lang="en-US" altLang="x-none" dirty="0"/>
          </a:p>
          <a:p>
            <a:pPr eaLnBrk="1" hangingPunct="1"/>
            <a:r>
              <a:rPr lang="en-US" altLang="x-none" dirty="0"/>
              <a:t>More on Clustering and Association Analysis</a:t>
            </a:r>
            <a:r>
              <a:rPr lang="en-US" altLang="x-none" dirty="0">
                <a:solidFill>
                  <a:srgbClr val="00B050"/>
                </a:solidFill>
                <a:sym typeface="Wingdings" panose="05000000000000000000" pitchFamily="2" charset="2"/>
              </a:rPr>
              <a:t>covered by Data Mining Course</a:t>
            </a:r>
            <a:endParaRPr lang="en-US" altLang="x-none" dirty="0">
              <a:solidFill>
                <a:srgbClr val="00B050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en-US" altLang="x-none" dirty="0">
                <a:sym typeface="Wingdings" panose="05000000000000000000" pitchFamily="2" charset="2"/>
              </a:rPr>
              <a:t>More on Feature Selection, Feature Creation </a:t>
            </a:r>
            <a:endParaRPr lang="en-US" altLang="x-none" dirty="0">
              <a:sym typeface="Wingdings" panose="05000000000000000000" pitchFamily="2" charset="2"/>
            </a:endParaRPr>
          </a:p>
          <a:p>
            <a:pPr eaLnBrk="1" hangingPunct="1"/>
            <a:r>
              <a:rPr lang="en-US" altLang="x-none" dirty="0">
                <a:sym typeface="Wingdings" panose="05000000000000000000" pitchFamily="2" charset="2"/>
              </a:rPr>
              <a:t>More on Prediction </a:t>
            </a:r>
            <a:endParaRPr lang="en-US" altLang="x-none" dirty="0">
              <a:sym typeface="Wingdings" panose="05000000000000000000" pitchFamily="2" charset="2"/>
            </a:endParaRPr>
          </a:p>
          <a:p>
            <a:pPr eaLnBrk="1" hangingPunct="1"/>
            <a:r>
              <a:rPr lang="en-US" altLang="x-none" dirty="0">
                <a:sym typeface="Wingdings" panose="05000000000000000000" pitchFamily="2" charset="2"/>
              </a:rPr>
              <a:t>Possibly: More depth coverage of optimization techniques, neural networks, hidden Markov models, how to conduct a machine learning experiment, comparing machine learning algorithms,…</a:t>
            </a:r>
            <a:endParaRPr lang="en-US" altLang="x-none" dirty="0"/>
          </a:p>
          <a:p>
            <a:pPr eaLnBrk="1" hangingPunct="1"/>
            <a:endParaRPr lang="en-US" altLang="x-none" sz="2000" b="1" dirty="0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3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Alpydin &amp; Ch. Eick: ML Topic1</a:t>
            </a:r>
            <a:endParaRPr kumimoji="0" lang="tr-TR" sz="10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5" name="Slide Number Placeholder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tr-TR" sz="1400" i="1" dirty="0"/>
            </a:fld>
            <a:endParaRPr lang="tr-TR" sz="14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0">
      <a:dk1>
        <a:srgbClr val="000000"/>
      </a:dk1>
      <a:lt1>
        <a:srgbClr val="FFFFFF"/>
      </a:lt1>
      <a:dk2>
        <a:srgbClr val="000000"/>
      </a:dk2>
      <a:lt2>
        <a:srgbClr val="FF9900"/>
      </a:lt2>
      <a:accent1>
        <a:srgbClr val="FFCC99"/>
      </a:accent1>
      <a:accent2>
        <a:srgbClr val="FBA313"/>
      </a:accent2>
      <a:accent3>
        <a:srgbClr val="FFFFFF"/>
      </a:accent3>
      <a:accent4>
        <a:srgbClr val="000000"/>
      </a:accent4>
      <a:accent5>
        <a:srgbClr val="FFE2CA"/>
      </a:accent5>
      <a:accent6>
        <a:srgbClr val="E39310"/>
      </a:accent6>
      <a:hlink>
        <a:srgbClr val="CC3300"/>
      </a:hlink>
      <a:folHlink>
        <a:srgbClr val="FCC66E"/>
      </a:folHlink>
    </a:clrScheme>
    <a:fontScheme name="Pixel">
      <a:majorFont>
        <a:latin typeface="Lucida Bright"/>
        <a:ea typeface=""/>
        <a:cs typeface=""/>
      </a:majorFont>
      <a:minorFont>
        <a:latin typeface="Lucida Br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Slit</Template>
  <TotalTime>0</TotalTime>
  <Words>6758</Words>
  <Application>WPS Presentation</Application>
  <PresentationFormat>On-screen Show (4:3)</PresentationFormat>
  <Paragraphs>263</Paragraphs>
  <Slides>21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Palatino Linotype</vt:lpstr>
      <vt:lpstr>Lucida Bright</vt:lpstr>
      <vt:lpstr>Times New Roman</vt:lpstr>
      <vt:lpstr>Symbol</vt:lpstr>
      <vt:lpstr>Microsoft YaHei</vt:lpstr>
      <vt:lpstr>Arial Unicode MS</vt:lpstr>
      <vt:lpstr>Pixel</vt:lpstr>
      <vt:lpstr>Word.Document.8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BOGAZICI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ethem</dc:creator>
  <cp:lastModifiedBy>KIIT0001</cp:lastModifiedBy>
  <cp:revision>195</cp:revision>
  <dcterms:created xsi:type="dcterms:W3CDTF">2005-01-24T14:46:28Z</dcterms:created>
  <dcterms:modified xsi:type="dcterms:W3CDTF">2026-06-12T14:01:17Z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92659E32960D4C9696C1FA107F69B8A9_13</vt:lpwstr>
  </property>
  <property fmtid="{D5CDD505-2E9C-101B-9397-08002B2CF9AE}" pid="3" name="KSOProductBuildVer">
    <vt:lpwstr>1033-12.1.0.26880</vt:lpwstr>
  </property>
</Properties>
</file>